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543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1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F9"/>
    <a:srgbClr val="A20000"/>
    <a:srgbClr val="F9F3FF"/>
    <a:srgbClr val="F0E1FF"/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C813A-0C84-8A4D-B66A-0DF87B9F9001}" v="18" dt="2025-07-30T03:20:09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450"/>
    <p:restoredTop sz="94696"/>
  </p:normalViewPr>
  <p:slideViewPr>
    <p:cSldViewPr snapToGrid="0" snapToObjects="1">
      <p:cViewPr>
        <p:scale>
          <a:sx n="100" d="100"/>
          <a:sy n="100" d="100"/>
        </p:scale>
        <p:origin x="1402" y="86"/>
      </p:cViewPr>
      <p:guideLst>
        <p:guide orient="horz" pos="171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>
        <p:scale>
          <a:sx n="66" d="100"/>
          <a:sy n="66" d="100"/>
        </p:scale>
        <p:origin x="3062" y="22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y Nguyễn" userId="eca1d395-c549-4fe9-943c-1e19f4673c01" providerId="ADAL" clId="{CC5C813A-0C84-8A4D-B66A-0DF87B9F9001}"/>
    <pc:docChg chg="undo custSel modNotesMaster">
      <pc:chgData name="Duy Nguyễn" userId="eca1d395-c549-4fe9-943c-1e19f4673c01" providerId="ADAL" clId="{CC5C813A-0C84-8A4D-B66A-0DF87B9F9001}" dt="2025-07-30T03:33:10.627" v="1075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97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88561"/>
            <a:ext cx="5829300" cy="11651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080174"/>
            <a:ext cx="4800600" cy="13890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520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04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56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08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60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12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64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416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492879"/>
            <a:ext cx="5829300" cy="1079570"/>
          </a:xfrm>
        </p:spPr>
        <p:txBody>
          <a:bodyPr anchor="t"/>
          <a:lstStyle>
            <a:lvl1pPr algn="l">
              <a:defRPr sz="483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303840"/>
            <a:ext cx="5829300" cy="1189037"/>
          </a:xfrm>
        </p:spPr>
        <p:txBody>
          <a:bodyPr anchor="b"/>
          <a:lstStyle>
            <a:lvl1pPr marL="0" indent="0">
              <a:buNone/>
              <a:defRPr sz="2415">
                <a:solidFill>
                  <a:schemeClr val="tx1">
                    <a:tint val="75000"/>
                  </a:schemeClr>
                </a:solidFill>
              </a:defRPr>
            </a:lvl1pPr>
            <a:lvl2pPr marL="552023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1104047" indent="0">
              <a:buNone/>
              <a:defRPr sz="1932">
                <a:solidFill>
                  <a:schemeClr val="tx1">
                    <a:tint val="75000"/>
                  </a:schemeClr>
                </a:solidFill>
              </a:defRPr>
            </a:lvl3pPr>
            <a:lvl4pPr marL="1656070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4pPr>
            <a:lvl5pPr marL="2208093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5pPr>
            <a:lvl6pPr marL="2760116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6pPr>
            <a:lvl7pPr marL="3312140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7pPr>
            <a:lvl8pPr marL="3864163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8pPr>
            <a:lvl9pPr marL="4416186" indent="0">
              <a:buNone/>
              <a:defRPr sz="16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68308"/>
            <a:ext cx="3028950" cy="3587245"/>
          </a:xfrm>
        </p:spPr>
        <p:txBody>
          <a:bodyPr/>
          <a:lstStyle>
            <a:lvl1pPr>
              <a:defRPr sz="3381"/>
            </a:lvl1pPr>
            <a:lvl2pPr>
              <a:defRPr sz="2898"/>
            </a:lvl2pPr>
            <a:lvl3pPr>
              <a:defRPr sz="2415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68308"/>
            <a:ext cx="3028950" cy="3587245"/>
          </a:xfrm>
        </p:spPr>
        <p:txBody>
          <a:bodyPr/>
          <a:lstStyle>
            <a:lvl1pPr>
              <a:defRPr sz="3381"/>
            </a:lvl1pPr>
            <a:lvl2pPr>
              <a:defRPr sz="2898"/>
            </a:lvl2pPr>
            <a:lvl3pPr>
              <a:defRPr sz="2415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16719"/>
            <a:ext cx="3030141" cy="507071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723790"/>
            <a:ext cx="3030141" cy="3131761"/>
          </a:xfrm>
        </p:spPr>
        <p:txBody>
          <a:bodyPr/>
          <a:lstStyle>
            <a:lvl1pPr>
              <a:defRPr sz="2898"/>
            </a:lvl1pPr>
            <a:lvl2pPr>
              <a:defRPr sz="2415"/>
            </a:lvl2pPr>
            <a:lvl3pPr>
              <a:defRPr sz="2173"/>
            </a:lvl3pPr>
            <a:lvl4pPr>
              <a:defRPr sz="1932"/>
            </a:lvl4pPr>
            <a:lvl5pPr>
              <a:defRPr sz="1932"/>
            </a:lvl5pPr>
            <a:lvl6pPr>
              <a:defRPr sz="1932"/>
            </a:lvl6pPr>
            <a:lvl7pPr>
              <a:defRPr sz="1932"/>
            </a:lvl7pPr>
            <a:lvl8pPr>
              <a:defRPr sz="1932"/>
            </a:lvl8pPr>
            <a:lvl9pPr>
              <a:defRPr sz="19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2" y="1216719"/>
            <a:ext cx="3031331" cy="507071"/>
          </a:xfrm>
        </p:spPr>
        <p:txBody>
          <a:bodyPr anchor="b"/>
          <a:lstStyle>
            <a:lvl1pPr marL="0" indent="0">
              <a:buNone/>
              <a:defRPr sz="2898" b="1"/>
            </a:lvl1pPr>
            <a:lvl2pPr marL="552023" indent="0">
              <a:buNone/>
              <a:defRPr sz="2415" b="1"/>
            </a:lvl2pPr>
            <a:lvl3pPr marL="1104047" indent="0">
              <a:buNone/>
              <a:defRPr sz="2173" b="1"/>
            </a:lvl3pPr>
            <a:lvl4pPr marL="1656070" indent="0">
              <a:buNone/>
              <a:defRPr sz="1932" b="1"/>
            </a:lvl4pPr>
            <a:lvl5pPr marL="2208093" indent="0">
              <a:buNone/>
              <a:defRPr sz="1932" b="1"/>
            </a:lvl5pPr>
            <a:lvl6pPr marL="2760116" indent="0">
              <a:buNone/>
              <a:defRPr sz="1932" b="1"/>
            </a:lvl6pPr>
            <a:lvl7pPr marL="3312140" indent="0">
              <a:buNone/>
              <a:defRPr sz="1932" b="1"/>
            </a:lvl7pPr>
            <a:lvl8pPr marL="3864163" indent="0">
              <a:buNone/>
              <a:defRPr sz="1932" b="1"/>
            </a:lvl8pPr>
            <a:lvl9pPr marL="4416186" indent="0">
              <a:buNone/>
              <a:defRPr sz="19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2" y="1723790"/>
            <a:ext cx="3031331" cy="3131761"/>
          </a:xfrm>
        </p:spPr>
        <p:txBody>
          <a:bodyPr/>
          <a:lstStyle>
            <a:lvl1pPr>
              <a:defRPr sz="2898"/>
            </a:lvl1pPr>
            <a:lvl2pPr>
              <a:defRPr sz="2415"/>
            </a:lvl2pPr>
            <a:lvl3pPr>
              <a:defRPr sz="2173"/>
            </a:lvl3pPr>
            <a:lvl4pPr>
              <a:defRPr sz="1932"/>
            </a:lvl4pPr>
            <a:lvl5pPr>
              <a:defRPr sz="1932"/>
            </a:lvl5pPr>
            <a:lvl6pPr>
              <a:defRPr sz="1932"/>
            </a:lvl6pPr>
            <a:lvl7pPr>
              <a:defRPr sz="1932"/>
            </a:lvl7pPr>
            <a:lvl8pPr>
              <a:defRPr sz="1932"/>
            </a:lvl8pPr>
            <a:lvl9pPr>
              <a:defRPr sz="19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216418"/>
            <a:ext cx="2256235" cy="921032"/>
          </a:xfrm>
        </p:spPr>
        <p:txBody>
          <a:bodyPr anchor="b"/>
          <a:lstStyle>
            <a:lvl1pPr algn="l">
              <a:defRPr sz="241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216419"/>
            <a:ext cx="3833813" cy="4639134"/>
          </a:xfrm>
        </p:spPr>
        <p:txBody>
          <a:bodyPr/>
          <a:lstStyle>
            <a:lvl1pPr>
              <a:defRPr sz="3864"/>
            </a:lvl1pPr>
            <a:lvl2pPr>
              <a:defRPr sz="3381"/>
            </a:lvl2pPr>
            <a:lvl3pPr>
              <a:defRPr sz="2898"/>
            </a:lvl3pPr>
            <a:lvl4pPr>
              <a:defRPr sz="2415"/>
            </a:lvl4pPr>
            <a:lvl5pPr>
              <a:defRPr sz="2415"/>
            </a:lvl5pPr>
            <a:lvl6pPr>
              <a:defRPr sz="2415"/>
            </a:lvl6pPr>
            <a:lvl7pPr>
              <a:defRPr sz="2415"/>
            </a:lvl7pPr>
            <a:lvl8pPr>
              <a:defRPr sz="2415"/>
            </a:lvl8pPr>
            <a:lvl9pPr>
              <a:defRPr sz="24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2" y="1137451"/>
            <a:ext cx="2256235" cy="3718102"/>
          </a:xfrm>
        </p:spPr>
        <p:txBody>
          <a:bodyPr/>
          <a:lstStyle>
            <a:lvl1pPr marL="0" indent="0">
              <a:buNone/>
              <a:defRPr sz="1690"/>
            </a:lvl1pPr>
            <a:lvl2pPr marL="552023" indent="0">
              <a:buNone/>
              <a:defRPr sz="1449"/>
            </a:lvl2pPr>
            <a:lvl3pPr marL="1104047" indent="0">
              <a:buNone/>
              <a:defRPr sz="1207"/>
            </a:lvl3pPr>
            <a:lvl4pPr marL="1656070" indent="0">
              <a:buNone/>
              <a:defRPr sz="1087"/>
            </a:lvl4pPr>
            <a:lvl5pPr marL="2208093" indent="0">
              <a:buNone/>
              <a:defRPr sz="1087"/>
            </a:lvl5pPr>
            <a:lvl6pPr marL="2760116" indent="0">
              <a:buNone/>
              <a:defRPr sz="1087"/>
            </a:lvl6pPr>
            <a:lvl7pPr marL="3312140" indent="0">
              <a:buNone/>
              <a:defRPr sz="1087"/>
            </a:lvl7pPr>
            <a:lvl8pPr marL="3864163" indent="0">
              <a:buNone/>
              <a:defRPr sz="1087"/>
            </a:lvl8pPr>
            <a:lvl9pPr marL="4416186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804920"/>
            <a:ext cx="4114800" cy="449192"/>
          </a:xfrm>
        </p:spPr>
        <p:txBody>
          <a:bodyPr anchor="b"/>
          <a:lstStyle>
            <a:lvl1pPr algn="l">
              <a:defRPr sz="241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85681"/>
            <a:ext cx="4114800" cy="3261360"/>
          </a:xfrm>
        </p:spPr>
        <p:txBody>
          <a:bodyPr/>
          <a:lstStyle>
            <a:lvl1pPr marL="0" indent="0">
              <a:buNone/>
              <a:defRPr sz="3864"/>
            </a:lvl1pPr>
            <a:lvl2pPr marL="552023" indent="0">
              <a:buNone/>
              <a:defRPr sz="3381"/>
            </a:lvl2pPr>
            <a:lvl3pPr marL="1104047" indent="0">
              <a:buNone/>
              <a:defRPr sz="2898"/>
            </a:lvl3pPr>
            <a:lvl4pPr marL="1656070" indent="0">
              <a:buNone/>
              <a:defRPr sz="2415"/>
            </a:lvl4pPr>
            <a:lvl5pPr marL="2208093" indent="0">
              <a:buNone/>
              <a:defRPr sz="2415"/>
            </a:lvl5pPr>
            <a:lvl6pPr marL="2760116" indent="0">
              <a:buNone/>
              <a:defRPr sz="2415"/>
            </a:lvl6pPr>
            <a:lvl7pPr marL="3312140" indent="0">
              <a:buNone/>
              <a:defRPr sz="2415"/>
            </a:lvl7pPr>
            <a:lvl8pPr marL="3864163" indent="0">
              <a:buNone/>
              <a:defRPr sz="2415"/>
            </a:lvl8pPr>
            <a:lvl9pPr marL="4416186" indent="0">
              <a:buNone/>
              <a:defRPr sz="241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254113"/>
            <a:ext cx="4114800" cy="637927"/>
          </a:xfrm>
        </p:spPr>
        <p:txBody>
          <a:bodyPr/>
          <a:lstStyle>
            <a:lvl1pPr marL="0" indent="0">
              <a:buNone/>
              <a:defRPr sz="1690"/>
            </a:lvl1pPr>
            <a:lvl2pPr marL="552023" indent="0">
              <a:buNone/>
              <a:defRPr sz="1449"/>
            </a:lvl2pPr>
            <a:lvl3pPr marL="1104047" indent="0">
              <a:buNone/>
              <a:defRPr sz="1207"/>
            </a:lvl3pPr>
            <a:lvl4pPr marL="1656070" indent="0">
              <a:buNone/>
              <a:defRPr sz="1087"/>
            </a:lvl4pPr>
            <a:lvl5pPr marL="2208093" indent="0">
              <a:buNone/>
              <a:defRPr sz="1087"/>
            </a:lvl5pPr>
            <a:lvl6pPr marL="2760116" indent="0">
              <a:buNone/>
              <a:defRPr sz="1087"/>
            </a:lvl6pPr>
            <a:lvl7pPr marL="3312140" indent="0">
              <a:buNone/>
              <a:defRPr sz="1087"/>
            </a:lvl7pPr>
            <a:lvl8pPr marL="3864163" indent="0">
              <a:buNone/>
              <a:defRPr sz="1087"/>
            </a:lvl8pPr>
            <a:lvl9pPr marL="4416186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17679"/>
            <a:ext cx="1543050" cy="4637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17679"/>
            <a:ext cx="4514850" cy="4637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17677"/>
            <a:ext cx="6172200" cy="905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68308"/>
            <a:ext cx="6172200" cy="3587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5037998"/>
            <a:ext cx="1600200" cy="289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5037998"/>
            <a:ext cx="2171700" cy="289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5037998"/>
            <a:ext cx="1600200" cy="289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52023" rtl="0" eaLnBrk="1" latinLnBrk="0" hangingPunct="1">
        <a:spcBef>
          <a:spcPct val="0"/>
        </a:spcBef>
        <a:buNone/>
        <a:defRPr sz="53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4017" indent="-414017" algn="l" defTabSz="552023" rtl="0" eaLnBrk="1" latinLnBrk="0" hangingPunct="1">
        <a:spcBef>
          <a:spcPct val="20000"/>
        </a:spcBef>
        <a:buFont typeface="Arial"/>
        <a:buChar char="•"/>
        <a:defRPr sz="3864" kern="1200">
          <a:solidFill>
            <a:schemeClr val="tx1"/>
          </a:solidFill>
          <a:latin typeface="+mn-lt"/>
          <a:ea typeface="+mn-ea"/>
          <a:cs typeface="+mn-cs"/>
        </a:defRPr>
      </a:lvl1pPr>
      <a:lvl2pPr marL="897038" indent="-345015" algn="l" defTabSz="552023" rtl="0" eaLnBrk="1" latinLnBrk="0" hangingPunct="1">
        <a:spcBef>
          <a:spcPct val="20000"/>
        </a:spcBef>
        <a:buFont typeface="Arial"/>
        <a:buChar char="–"/>
        <a:defRPr sz="3381" kern="1200">
          <a:solidFill>
            <a:schemeClr val="tx1"/>
          </a:solidFill>
          <a:latin typeface="+mn-lt"/>
          <a:ea typeface="+mn-ea"/>
          <a:cs typeface="+mn-cs"/>
        </a:defRPr>
      </a:lvl2pPr>
      <a:lvl3pPr marL="1380058" indent="-276012" algn="l" defTabSz="552023" rtl="0" eaLnBrk="1" latinLnBrk="0" hangingPunct="1">
        <a:spcBef>
          <a:spcPct val="20000"/>
        </a:spcBef>
        <a:buFont typeface="Arial"/>
        <a:buChar char="•"/>
        <a:defRPr sz="2898" kern="1200">
          <a:solidFill>
            <a:schemeClr val="tx1"/>
          </a:solidFill>
          <a:latin typeface="+mn-lt"/>
          <a:ea typeface="+mn-ea"/>
          <a:cs typeface="+mn-cs"/>
        </a:defRPr>
      </a:lvl3pPr>
      <a:lvl4pPr marL="1932081" indent="-276012" algn="l" defTabSz="552023" rtl="0" eaLnBrk="1" latinLnBrk="0" hangingPunct="1">
        <a:spcBef>
          <a:spcPct val="20000"/>
        </a:spcBef>
        <a:buFont typeface="Arial"/>
        <a:buChar char="–"/>
        <a:defRPr sz="2415" kern="1200">
          <a:solidFill>
            <a:schemeClr val="tx1"/>
          </a:solidFill>
          <a:latin typeface="+mn-lt"/>
          <a:ea typeface="+mn-ea"/>
          <a:cs typeface="+mn-cs"/>
        </a:defRPr>
      </a:lvl4pPr>
      <a:lvl5pPr marL="2484105" indent="-276012" algn="l" defTabSz="552023" rtl="0" eaLnBrk="1" latinLnBrk="0" hangingPunct="1">
        <a:spcBef>
          <a:spcPct val="20000"/>
        </a:spcBef>
        <a:buFont typeface="Arial"/>
        <a:buChar char="»"/>
        <a:defRPr sz="2415" kern="1200">
          <a:solidFill>
            <a:schemeClr val="tx1"/>
          </a:solidFill>
          <a:latin typeface="+mn-lt"/>
          <a:ea typeface="+mn-ea"/>
          <a:cs typeface="+mn-cs"/>
        </a:defRPr>
      </a:lvl5pPr>
      <a:lvl6pPr marL="3036128" indent="-276012" algn="l" defTabSz="552023" rtl="0" eaLnBrk="1" latinLnBrk="0" hangingPunct="1">
        <a:spcBef>
          <a:spcPct val="20000"/>
        </a:spcBef>
        <a:buFont typeface="Arial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6pPr>
      <a:lvl7pPr marL="3588151" indent="-276012" algn="l" defTabSz="552023" rtl="0" eaLnBrk="1" latinLnBrk="0" hangingPunct="1">
        <a:spcBef>
          <a:spcPct val="20000"/>
        </a:spcBef>
        <a:buFont typeface="Arial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7pPr>
      <a:lvl8pPr marL="4140175" indent="-276012" algn="l" defTabSz="552023" rtl="0" eaLnBrk="1" latinLnBrk="0" hangingPunct="1">
        <a:spcBef>
          <a:spcPct val="20000"/>
        </a:spcBef>
        <a:buFont typeface="Arial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8pPr>
      <a:lvl9pPr marL="4692198" indent="-276012" algn="l" defTabSz="552023" rtl="0" eaLnBrk="1" latinLnBrk="0" hangingPunct="1">
        <a:spcBef>
          <a:spcPct val="20000"/>
        </a:spcBef>
        <a:buFont typeface="Arial"/>
        <a:buChar char="•"/>
        <a:defRPr sz="24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1pPr>
      <a:lvl2pPr marL="552023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2pPr>
      <a:lvl3pPr marL="1104047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656070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4pPr>
      <a:lvl5pPr marL="2208093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5pPr>
      <a:lvl6pPr marL="2760116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6pPr>
      <a:lvl7pPr marL="3312140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7pPr>
      <a:lvl8pPr marL="3864163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8pPr>
      <a:lvl9pPr marL="4416186" algn="l" defTabSz="552023" rtl="0" eaLnBrk="1" latinLnBrk="0" hangingPunct="1">
        <a:defRPr sz="21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5E623D69-3FCC-8089-3783-86A96CD221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262673"/>
              </p:ext>
            </p:extLst>
          </p:nvPr>
        </p:nvGraphicFramePr>
        <p:xfrm>
          <a:off x="-23378" y="-10160"/>
          <a:ext cx="6877050" cy="4026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66">
                  <a:extLst>
                    <a:ext uri="{9D8B030D-6E8A-4147-A177-3AD203B41FA5}">
                      <a16:colId xmlns:a16="http://schemas.microsoft.com/office/drawing/2014/main" val="4259470647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3357401299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604762144"/>
                    </a:ext>
                  </a:extLst>
                </a:gridCol>
                <a:gridCol w="1719073">
                  <a:extLst>
                    <a:ext uri="{9D8B030D-6E8A-4147-A177-3AD203B41FA5}">
                      <a16:colId xmlns:a16="http://schemas.microsoft.com/office/drawing/2014/main" val="103914620"/>
                    </a:ext>
                  </a:extLst>
                </a:gridCol>
                <a:gridCol w="1546098">
                  <a:extLst>
                    <a:ext uri="{9D8B030D-6E8A-4147-A177-3AD203B41FA5}">
                      <a16:colId xmlns:a16="http://schemas.microsoft.com/office/drawing/2014/main" val="1551525943"/>
                    </a:ext>
                  </a:extLst>
                </a:gridCol>
              </a:tblGrid>
              <a:tr h="279343">
                <a:tc gridSpan="4">
                  <a:txBody>
                    <a:bodyPr/>
                    <a:lstStyle/>
                    <a:p>
                      <a:r>
                        <a:rPr lang="vi-VN" sz="1200">
                          <a:solidFill>
                            <a:schemeClr val="bg1"/>
                          </a:solidFill>
                          <a:latin typeface="+mj-lt"/>
                        </a:rPr>
                        <a:t>QUY TRÌNH THỰC HIỆN HỘI NGHỊ, HỘI THẢO CHUYÊN ĐỀ</a:t>
                      </a:r>
                      <a:endParaRPr lang="vi-VN" sz="120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00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944431"/>
                  </a:ext>
                </a:extLst>
              </a:tr>
              <a:tr h="373360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Bước</a:t>
                      </a:r>
                      <a:endParaRPr lang="vi-VN" sz="10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Trách nhiệm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Nội dung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Mô tả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Hồ sơ/Biểu mẫu</a:t>
                      </a: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843811"/>
                  </a:ext>
                </a:extLst>
              </a:tr>
              <a:tr h="664820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rowSpan="5">
                  <a:txBody>
                    <a:bodyPr/>
                    <a:lstStyle/>
                    <a:p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Gửi đề xuất về KHCN cho hội thảo nội bộ, chuyên sâu theo chuyên môn </a:t>
                      </a:r>
                      <a:r>
                        <a:rPr lang="en-US" sz="900" b="0" i="0" kern="1200" baseline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(Trước 30 ngày tổ chức)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BM01B/QT.KHCN.03;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BM04B/QT.KHCN.03.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MOU/MOA (Nếu có).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316148"/>
                  </a:ext>
                </a:extLst>
              </a:tr>
              <a:tr h="540774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BGH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Đơn giản hóa quy trình: kiểm tra nhanh nội dung, quy mô, mục tiêu; trình lãnh đạo phê duyệt </a:t>
                      </a:r>
                      <a:r>
                        <a:rPr lang="vi-VN" sz="900" b="0" i="0" kern="1200" baseline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(07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 bước 1 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619462"/>
                  </a:ext>
                </a:extLst>
              </a:tr>
              <a:tr h="736436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Triển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khai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dung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môn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CLB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tọa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đàm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sinh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giảng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viên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thể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diễn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online </a:t>
                      </a:r>
                      <a:r>
                        <a:rPr lang="en-US" sz="900" b="0" i="0" kern="1200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hoặc</a:t>
                      </a:r>
                      <a:r>
                        <a:rPr lang="en-US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offline.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906674"/>
                  </a:ext>
                </a:extLst>
              </a:tr>
              <a:tr h="598292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04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TCKT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KHCN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Sau khi tổ chức, báo cáo tổng kết hoạt động, lưu giữ biên bản, hình ảnh, sản phẩm (nếu có) gửi về KHCN </a:t>
                      </a:r>
                      <a:r>
                        <a:rPr lang="vi-VN" sz="900" b="0" i="0" kern="1200" baseline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(02 ngày)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-Theo quy trình QT.TCKT.04 của TCKT</a:t>
                      </a:r>
                    </a:p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en-US" sz="900" b="0" i="0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BM06C/QT.KHCN.03</a:t>
                      </a:r>
                      <a:endParaRPr lang="en-US" sz="900" b="0" i="0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63351"/>
                  </a:ext>
                </a:extLst>
              </a:tr>
              <a:tr h="651802">
                <a:tc>
                  <a:txBody>
                    <a:bodyPr/>
                    <a:lstStyle/>
                    <a:p>
                      <a:pPr algn="ctr"/>
                      <a:r>
                        <a:rPr lang="vi-VN" sz="1000" b="1">
                          <a:solidFill>
                            <a:schemeClr val="bg1"/>
                          </a:solidFill>
                          <a:latin typeface="+mj-lt"/>
                        </a:rPr>
                        <a:t>05</a:t>
                      </a:r>
                    </a:p>
                  </a:txBody>
                  <a:tcPr anchor="ctr"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tx1"/>
                          </a:solidFill>
                          <a:latin typeface="+mj-lt"/>
                        </a:rPr>
                        <a:t>- </a:t>
                      </a:r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KHCN</a:t>
                      </a:r>
                    </a:p>
                    <a:p>
                      <a:pPr algn="l"/>
                      <a:r>
                        <a:rPr lang="vi-VN" sz="1000">
                          <a:solidFill>
                            <a:schemeClr val="tx1"/>
                          </a:solidFill>
                          <a:latin typeface="+mj-lt"/>
                        </a:rPr>
                        <a:t>- ĐVTC</a:t>
                      </a:r>
                      <a:endParaRPr lang="vi-VN" sz="1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VN"/>
                    </a:p>
                  </a:txBody>
                  <a:tcPr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hồ sơ đầy đủ tại đơn vị tổ chức và các bên liên quan</a:t>
                      </a:r>
                      <a:endParaRPr lang="vi-VN" sz="900" b="0" i="0" kern="1200" baseline="0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buFontTx/>
                        <a:buNone/>
                      </a:pPr>
                      <a:r>
                        <a:rPr lang="vi-VN" sz="900" b="0" i="0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Toàn bộ hồ sơ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A2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732505"/>
                  </a:ext>
                </a:extLst>
              </a:tr>
            </a:tbl>
          </a:graphicData>
        </a:graphic>
      </p:graphicFrame>
      <p:graphicFrame>
        <p:nvGraphicFramePr>
          <p:cNvPr id="40" name="Table 56">
            <a:extLst>
              <a:ext uri="{FF2B5EF4-FFF2-40B4-BE49-F238E27FC236}">
                <a16:creationId xmlns:a16="http://schemas.microsoft.com/office/drawing/2014/main" id="{92982805-0FA8-3143-8498-581D6F571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111150"/>
              </p:ext>
            </p:extLst>
          </p:nvPr>
        </p:nvGraphicFramePr>
        <p:xfrm>
          <a:off x="-23378" y="3995897"/>
          <a:ext cx="687705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198402807"/>
                    </a:ext>
                  </a:extLst>
                </a:gridCol>
                <a:gridCol w="2411984">
                  <a:extLst>
                    <a:ext uri="{9D8B030D-6E8A-4147-A177-3AD203B41FA5}">
                      <a16:colId xmlns:a16="http://schemas.microsoft.com/office/drawing/2014/main" val="222306129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51499909"/>
                    </a:ext>
                  </a:extLst>
                </a:gridCol>
                <a:gridCol w="1495806">
                  <a:extLst>
                    <a:ext uri="{9D8B030D-6E8A-4147-A177-3AD203B41FA5}">
                      <a16:colId xmlns:a16="http://schemas.microsoft.com/office/drawing/2014/main" val="3260828008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1736909761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15967648"/>
                    </a:ext>
                  </a:extLst>
                </a:gridCol>
              </a:tblGrid>
              <a:tr h="250115">
                <a:tc gridSpan="2">
                  <a:txBody>
                    <a:bodyPr/>
                    <a:lstStyle/>
                    <a:p>
                      <a:pPr algn="ctr"/>
                      <a:r>
                        <a:rPr lang="vi-VN" sz="9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BIỂU MẪU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vi-VN" sz="900" b="1" dirty="0">
                          <a:solidFill>
                            <a:schemeClr val="bg1"/>
                          </a:solidFill>
                          <a:latin typeface="+mj-lt"/>
                        </a:rPr>
                        <a:t>PHÊ DUYỆT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vi-VN" sz="9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56235725"/>
                  </a:ext>
                </a:extLst>
              </a:tr>
              <a:tr h="1167205">
                <a:tc>
                  <a:txBody>
                    <a:bodyPr/>
                    <a:lstStyle/>
                    <a:p>
                      <a:endParaRPr lang="vi-VN" sz="900">
                        <a:latin typeface="+mj-lt"/>
                      </a:endParaRPr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b="1" dirty="0">
                          <a:latin typeface="+mj-lt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BM01B/QT.KHCN.03</a:t>
                      </a:r>
                      <a:r>
                        <a:rPr lang="en-US" sz="9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Phiếu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đăng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sz="9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900" b="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đề</a:t>
                      </a:r>
                      <a:endParaRPr lang="vi-VN" sz="9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900" dirty="0">
                          <a:latin typeface="+mj-lt"/>
                        </a:rPr>
                        <a:t>- </a:t>
                      </a:r>
                      <a:r>
                        <a:rPr kumimoji="0" lang="en-US" sz="900" b="1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BM04B/QT.KHCN.03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hoạch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endParaRPr lang="vi-VN" sz="900" dirty="0">
                        <a:latin typeface="+mj-lt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vi-VN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BM06C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/QT.KHCN.03</a:t>
                      </a:r>
                      <a:r>
                        <a:rPr kumimoji="0" lang="en-US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Báo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cáo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kết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quả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tổ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nghị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Hội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thảo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kumimoji="0" lang="en-US" sz="9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9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đề</a:t>
                      </a:r>
                      <a:endParaRPr kumimoji="0" lang="en-US" sz="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SOẠN THẢO</a:t>
                      </a:r>
                    </a:p>
                    <a:p>
                      <a:pPr algn="ctr"/>
                      <a:r>
                        <a:rPr lang="vi-VN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</a:t>
                      </a:r>
                      <a:r>
                        <a:rPr lang="vi-VN" sz="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KHCN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endParaRPr lang="vi-VN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ThS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r>
                        <a:rPr lang="en-US" sz="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Thị Thanh </a:t>
                      </a:r>
                      <a:r>
                        <a:rPr lang="en-US" sz="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Thoan</a:t>
                      </a:r>
                      <a:endParaRPr lang="vi-VN" sz="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ĐƠN VỊ KIỂM TRA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P. ĐBCL&amp;KĐ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..…………….………………….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PHÊ DUYỆT</a:t>
                      </a:r>
                    </a:p>
                    <a:p>
                      <a:pPr algn="ctr"/>
                      <a:r>
                        <a:rPr lang="vi-VN" sz="800" b="1" dirty="0">
                          <a:latin typeface="+mj-lt"/>
                        </a:rPr>
                        <a:t>HIỆU TRƯỞNG</a:t>
                      </a: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endParaRPr lang="en-US" sz="800" b="1" dirty="0">
                        <a:latin typeface="+mj-lt"/>
                      </a:endParaRPr>
                    </a:p>
                    <a:p>
                      <a:pPr algn="ctr"/>
                      <a:r>
                        <a:rPr lang="en-US" sz="800" b="1" dirty="0">
                          <a:latin typeface="+mj-lt"/>
                        </a:rPr>
                        <a:t>…………………………………………</a:t>
                      </a:r>
                      <a:endParaRPr lang="vi-VN" sz="800" b="1" dirty="0">
                        <a:latin typeface="+mj-lt"/>
                      </a:endParaRPr>
                    </a:p>
                  </a:txBody>
                  <a:tcPr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00279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00FD8CD1-0319-0A8B-9A36-0A8CD6B034D1}"/>
              </a:ext>
            </a:extLst>
          </p:cNvPr>
          <p:cNvGrpSpPr/>
          <p:nvPr/>
        </p:nvGrpSpPr>
        <p:grpSpPr>
          <a:xfrm>
            <a:off x="2045682" y="688502"/>
            <a:ext cx="1090577" cy="3231260"/>
            <a:chOff x="1623466" y="771424"/>
            <a:chExt cx="1090577" cy="317315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3A2EFF4F-B098-97EA-5AF1-A144053E8CAB}"/>
                </a:ext>
              </a:extLst>
            </p:cNvPr>
            <p:cNvSpPr/>
            <p:nvPr/>
          </p:nvSpPr>
          <p:spPr>
            <a:xfrm>
              <a:off x="1623466" y="3535589"/>
              <a:ext cx="1090577" cy="40898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Lưu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hồ</a:t>
              </a:r>
              <a:r>
                <a:rPr lang="en-US" sz="900" b="1" kern="1200" dirty="0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sz="900" b="1" kern="1200" dirty="0" err="1">
                  <a:solidFill>
                    <a:srgbClr val="FFF9F9"/>
                  </a:solidFill>
                  <a:effectLst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sơ</a:t>
              </a:r>
              <a:endParaRPr lang="vi-VN" sz="900" b="1" kern="1200" dirty="0">
                <a:solidFill>
                  <a:srgbClr val="FFF9F9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AD37667-FD7C-A39B-61F1-072699A9AE2F}"/>
                </a:ext>
              </a:extLst>
            </p:cNvPr>
            <p:cNvGrpSpPr/>
            <p:nvPr/>
          </p:nvGrpSpPr>
          <p:grpSpPr>
            <a:xfrm>
              <a:off x="1675818" y="771424"/>
              <a:ext cx="1038225" cy="491869"/>
              <a:chOff x="1657530" y="899440"/>
              <a:chExt cx="1038225" cy="491869"/>
            </a:xfrm>
          </p:grpSpPr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E0E0394D-0550-F04D-085F-CEB1F476EB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6642" y="1121247"/>
                <a:ext cx="0" cy="2700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33129153-FD70-CF0C-74AE-CB229DBA3075}"/>
                  </a:ext>
                </a:extLst>
              </p:cNvPr>
              <p:cNvSpPr/>
              <p:nvPr/>
            </p:nvSpPr>
            <p:spPr>
              <a:xfrm>
                <a:off x="1657530" y="899440"/>
                <a:ext cx="10382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vi-VN" sz="900" b="1" kern="1200" dirty="0">
                    <a:solidFill>
                      <a:schemeClr val="lt1"/>
                    </a:solidFill>
                    <a:effectLst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Đăng ký tổ chức</a:t>
                </a:r>
              </a:p>
            </p:txBody>
          </p:sp>
        </p:grp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32E463-6489-422A-C9E3-6CE404926F09}"/>
              </a:ext>
            </a:extLst>
          </p:cNvPr>
          <p:cNvCxnSpPr>
            <a:cxnSpLocks/>
          </p:cNvCxnSpPr>
          <p:nvPr/>
        </p:nvCxnSpPr>
        <p:spPr>
          <a:xfrm>
            <a:off x="2608540" y="2415094"/>
            <a:ext cx="0" cy="402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E6CF8AD-74E6-690C-8BF4-6F6B1111BE26}"/>
              </a:ext>
            </a:extLst>
          </p:cNvPr>
          <p:cNvCxnSpPr>
            <a:cxnSpLocks/>
          </p:cNvCxnSpPr>
          <p:nvPr/>
        </p:nvCxnSpPr>
        <p:spPr>
          <a:xfrm>
            <a:off x="2614328" y="3217446"/>
            <a:ext cx="1582" cy="285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11974E0-A2D0-9FDA-EC1F-F18B5569009C}"/>
              </a:ext>
            </a:extLst>
          </p:cNvPr>
          <p:cNvSpPr/>
          <p:nvPr/>
        </p:nvSpPr>
        <p:spPr>
          <a:xfrm>
            <a:off x="1812176" y="2817396"/>
            <a:ext cx="1616824" cy="4000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Thanh toán chi phí tổ chức và báo cáo kết quả tổ chức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4AAEA28-4502-1190-A80D-31A1AA957704}"/>
              </a:ext>
            </a:extLst>
          </p:cNvPr>
          <p:cNvCxnSpPr>
            <a:cxnSpLocks/>
          </p:cNvCxnSpPr>
          <p:nvPr/>
        </p:nvCxnSpPr>
        <p:spPr>
          <a:xfrm>
            <a:off x="2608540" y="1828873"/>
            <a:ext cx="0" cy="354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683BEA66-AA4D-F84D-F401-CDB6540B4BF1}"/>
              </a:ext>
            </a:extLst>
          </p:cNvPr>
          <p:cNvSpPr/>
          <p:nvPr/>
        </p:nvSpPr>
        <p:spPr>
          <a:xfrm>
            <a:off x="1812176" y="2214243"/>
            <a:ext cx="1616824" cy="3588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0" eaLnBrk="1" latinLnBrk="0" hangingPunct="1"/>
            <a:r>
              <a:rPr lang="vi-VN" sz="900" b="1" kern="1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Tổ chức</a:t>
            </a:r>
          </a:p>
        </p:txBody>
      </p:sp>
      <p:sp>
        <p:nvSpPr>
          <p:cNvPr id="2" name="Flowchart: Decision 21">
            <a:extLst>
              <a:ext uri="{FF2B5EF4-FFF2-40B4-BE49-F238E27FC236}">
                <a16:creationId xmlns:a16="http://schemas.microsoft.com/office/drawing/2014/main" id="{90AF1B7F-7572-F416-33A0-5B710E84C062}"/>
              </a:ext>
            </a:extLst>
          </p:cNvPr>
          <p:cNvSpPr/>
          <p:nvPr/>
        </p:nvSpPr>
        <p:spPr>
          <a:xfrm>
            <a:off x="1747872" y="1205986"/>
            <a:ext cx="1755944" cy="802131"/>
          </a:xfrm>
          <a:prstGeom prst="flowChartDecision">
            <a:avLst/>
          </a:prstGeom>
          <a:solidFill>
            <a:srgbClr val="A2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900" b="1" kern="1200" dirty="0">
                <a:solidFill>
                  <a:schemeClr val="lt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Tiếp nhận, thẩm định hồ sơ đăng ký và trình BGH phê duyệt</a:t>
            </a:r>
            <a:endParaRPr lang="vi-VN" sz="800" b="1" kern="1200" dirty="0">
              <a:solidFill>
                <a:schemeClr val="lt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26162CB-DEB3-84CD-49CD-D9F0B0055D3D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1604356" y="867220"/>
            <a:ext cx="493678" cy="72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D72548-9C3E-9210-D163-0E7C339E0AE5}"/>
              </a:ext>
            </a:extLst>
          </p:cNvPr>
          <p:cNvCxnSpPr>
            <a:cxnSpLocks/>
          </p:cNvCxnSpPr>
          <p:nvPr/>
        </p:nvCxnSpPr>
        <p:spPr>
          <a:xfrm>
            <a:off x="1604356" y="867220"/>
            <a:ext cx="0" cy="71786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328559-79AD-02F1-00C1-F0A7060374A8}"/>
              </a:ext>
            </a:extLst>
          </p:cNvPr>
          <p:cNvCxnSpPr>
            <a:cxnSpLocks/>
          </p:cNvCxnSpPr>
          <p:nvPr/>
        </p:nvCxnSpPr>
        <p:spPr>
          <a:xfrm>
            <a:off x="1604356" y="1593390"/>
            <a:ext cx="207820" cy="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06D708-E6D4-C555-49AD-29510A4F079A}"/>
              </a:ext>
            </a:extLst>
          </p:cNvPr>
          <p:cNvSpPr txBox="1"/>
          <p:nvPr/>
        </p:nvSpPr>
        <p:spPr>
          <a:xfrm>
            <a:off x="2691684" y="1941269"/>
            <a:ext cx="36449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3BED0-8140-0B85-C5F6-48B9EFA1FCE7}"/>
              </a:ext>
            </a:extLst>
          </p:cNvPr>
          <p:cNvSpPr txBox="1"/>
          <p:nvPr/>
        </p:nvSpPr>
        <p:spPr>
          <a:xfrm>
            <a:off x="1561649" y="1102390"/>
            <a:ext cx="9210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Không đạt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371</Words>
  <Application>Microsoft Office PowerPoint</Application>
  <PresentationFormat>Custom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Lan Thanh</dc:creator>
  <cp:keywords/>
  <dc:description>generated using python-pptx</dc:description>
  <cp:lastModifiedBy>Thanh Thanh</cp:lastModifiedBy>
  <cp:revision>44</cp:revision>
  <dcterms:created xsi:type="dcterms:W3CDTF">2013-01-27T09:14:16Z</dcterms:created>
  <dcterms:modified xsi:type="dcterms:W3CDTF">2025-08-01T15:40:36Z</dcterms:modified>
  <cp:category/>
</cp:coreProperties>
</file>